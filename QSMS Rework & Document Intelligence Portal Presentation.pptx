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Sarabun ExtraBold"/>
      <p:bold r:id="rId24"/>
      <p:boldItalic r:id="rId25"/>
    </p:embeddedFont>
    <p:embeddedFont>
      <p:font typeface="Sarabun"/>
      <p:regular r:id="rId26"/>
      <p:bold r:id="rId27"/>
      <p:italic r:id="rId28"/>
      <p:boldItalic r:id="rId29"/>
    </p:embeddedFont>
    <p:embeddedFont>
      <p:font typeface="Plus Jakarta Sans ExtraBold"/>
      <p:bold r:id="rId30"/>
      <p:boldItalic r:id="rId31"/>
    </p:embeddedFont>
    <p:embeddedFont>
      <p:font typeface="Sarabun Medium"/>
      <p:regular r:id="rId32"/>
      <p:bold r:id="rId33"/>
      <p:italic r:id="rId34"/>
      <p:boldItalic r:id="rId35"/>
    </p:embeddedFont>
    <p:embeddedFont>
      <p:font typeface="Sarabun SemiBold"/>
      <p:regular r:id="rId36"/>
      <p:bold r:id="rId37"/>
      <p:italic r:id="rId38"/>
      <p:boldItalic r:id="rId39"/>
    </p:embeddedFont>
    <p:embeddedFont>
      <p:font typeface="Sarabun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C34246-1C6B-4272-B706-020A2DD5FDA8}">
  <a:tblStyle styleId="{0FC34246-1C6B-4272-B706-020A2DD5FD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arabunLight-regular.fntdata"/><Relationship Id="rId20" Type="http://schemas.openxmlformats.org/officeDocument/2006/relationships/slide" Target="slides/slide14.xml"/><Relationship Id="rId42" Type="http://schemas.openxmlformats.org/officeDocument/2006/relationships/font" Target="fonts/SarabunLight-italic.fntdata"/><Relationship Id="rId41" Type="http://schemas.openxmlformats.org/officeDocument/2006/relationships/font" Target="fonts/SarabunLigh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SarabunLight-boldItalic.fntdata"/><Relationship Id="rId24" Type="http://schemas.openxmlformats.org/officeDocument/2006/relationships/font" Target="fonts/SarabunExtraBold-bold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arabun-regular.fntdata"/><Relationship Id="rId25" Type="http://schemas.openxmlformats.org/officeDocument/2006/relationships/font" Target="fonts/SarabunExtraBold-boldItalic.fntdata"/><Relationship Id="rId28" Type="http://schemas.openxmlformats.org/officeDocument/2006/relationships/font" Target="fonts/Sarabun-italic.fntdata"/><Relationship Id="rId27" Type="http://schemas.openxmlformats.org/officeDocument/2006/relationships/font" Target="fonts/Sarabu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arabun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ExtraBold-boldItalic.fntdata"/><Relationship Id="rId30" Type="http://schemas.openxmlformats.org/officeDocument/2006/relationships/font" Target="fonts/PlusJakartaSansExtraBold-bold.fntdata"/><Relationship Id="rId11" Type="http://schemas.openxmlformats.org/officeDocument/2006/relationships/slide" Target="slides/slide5.xml"/><Relationship Id="rId33" Type="http://schemas.openxmlformats.org/officeDocument/2006/relationships/font" Target="fonts/SarabunMedium-bold.fntdata"/><Relationship Id="rId10" Type="http://schemas.openxmlformats.org/officeDocument/2006/relationships/slide" Target="slides/slide4.xml"/><Relationship Id="rId32" Type="http://schemas.openxmlformats.org/officeDocument/2006/relationships/font" Target="fonts/SarabunMedium-regular.fntdata"/><Relationship Id="rId13" Type="http://schemas.openxmlformats.org/officeDocument/2006/relationships/slide" Target="slides/slide7.xml"/><Relationship Id="rId35" Type="http://schemas.openxmlformats.org/officeDocument/2006/relationships/font" Target="fonts/Sarabun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SarabunMedium-italic.fntdata"/><Relationship Id="rId15" Type="http://schemas.openxmlformats.org/officeDocument/2006/relationships/slide" Target="slides/slide9.xml"/><Relationship Id="rId37" Type="http://schemas.openxmlformats.org/officeDocument/2006/relationships/font" Target="fonts/SarabunSemiBold-bold.fntdata"/><Relationship Id="rId14" Type="http://schemas.openxmlformats.org/officeDocument/2006/relationships/slide" Target="slides/slide8.xml"/><Relationship Id="rId36" Type="http://schemas.openxmlformats.org/officeDocument/2006/relationships/font" Target="fonts/Sarabun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Sarabun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Sarabun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827ae0b1d_1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827ae0b1d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10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11" Type="http://schemas.openxmlformats.org/officeDocument/2006/relationships/image" Target="../media/image23.png"/><Relationship Id="rId10" Type="http://schemas.openxmlformats.org/officeDocument/2006/relationships/image" Target="../media/image27.png"/><Relationship Id="rId9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10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6.png"/><Relationship Id="rId5" Type="http://schemas.openxmlformats.org/officeDocument/2006/relationships/image" Target="../media/image9.png"/><Relationship Id="rId6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11" Type="http://schemas.openxmlformats.org/officeDocument/2006/relationships/image" Target="../media/image47.png"/><Relationship Id="rId10" Type="http://schemas.openxmlformats.org/officeDocument/2006/relationships/image" Target="../media/image43.png"/><Relationship Id="rId12" Type="http://schemas.openxmlformats.org/officeDocument/2006/relationships/image" Target="../media/image50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44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7.png"/><Relationship Id="rId13" Type="http://schemas.openxmlformats.org/officeDocument/2006/relationships/image" Target="../media/image53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45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57.png"/><Relationship Id="rId5" Type="http://schemas.openxmlformats.org/officeDocument/2006/relationships/image" Target="../media/image1.png"/><Relationship Id="rId6" Type="http://schemas.openxmlformats.org/officeDocument/2006/relationships/image" Target="../media/image48.png"/><Relationship Id="rId7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62.png"/><Relationship Id="rId13" Type="http://schemas.openxmlformats.org/officeDocument/2006/relationships/image" Target="../media/image72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33.png"/><Relationship Id="rId15" Type="http://schemas.openxmlformats.org/officeDocument/2006/relationships/image" Target="../media/image68.png"/><Relationship Id="rId14" Type="http://schemas.openxmlformats.org/officeDocument/2006/relationships/image" Target="../media/image64.png"/><Relationship Id="rId17" Type="http://schemas.openxmlformats.org/officeDocument/2006/relationships/image" Target="../media/image74.png"/><Relationship Id="rId16" Type="http://schemas.openxmlformats.org/officeDocument/2006/relationships/image" Target="../media/image80.png"/><Relationship Id="rId5" Type="http://schemas.openxmlformats.org/officeDocument/2006/relationships/image" Target="../media/image58.png"/><Relationship Id="rId6" Type="http://schemas.openxmlformats.org/officeDocument/2006/relationships/image" Target="../media/image56.png"/><Relationship Id="rId18" Type="http://schemas.openxmlformats.org/officeDocument/2006/relationships/image" Target="../media/image82.png"/><Relationship Id="rId7" Type="http://schemas.openxmlformats.org/officeDocument/2006/relationships/image" Target="../media/image37.png"/><Relationship Id="rId8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73.png"/><Relationship Id="rId5" Type="http://schemas.openxmlformats.org/officeDocument/2006/relationships/image" Target="../media/image28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9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67.png"/><Relationship Id="rId5" Type="http://schemas.openxmlformats.org/officeDocument/2006/relationships/image" Target="../media/image69.png"/><Relationship Id="rId6" Type="http://schemas.openxmlformats.org/officeDocument/2006/relationships/image" Target="../media/image71.png"/><Relationship Id="rId7" Type="http://schemas.openxmlformats.org/officeDocument/2006/relationships/image" Target="../media/image76.png"/><Relationship Id="rId8" Type="http://schemas.openxmlformats.org/officeDocument/2006/relationships/image" Target="../media/image8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88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87.png"/><Relationship Id="rId7" Type="http://schemas.openxmlformats.org/officeDocument/2006/relationships/image" Target="../media/image84.png"/><Relationship Id="rId8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00725"/>
            <a:ext cx="10668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0" y="4205287"/>
            <a:ext cx="85344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1550" y="1738312"/>
            <a:ext cx="26289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850594" y="2252662"/>
            <a:ext cx="64908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QSMS Rework &amp; Document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7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Intelligence Portal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38512" y="3538537"/>
            <a:ext cx="5514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1D3B9"/>
                </a:solidFill>
                <a:latin typeface="Sarabun Light"/>
                <a:ea typeface="Sarabun Light"/>
                <a:cs typeface="Sarabun Light"/>
                <a:sym typeface="Sarabun Light"/>
              </a:rPr>
              <a:t>ระบบจัดการงานคุณภาพ เอกสารวิศวกรรม และการค้นหาความรู้ด้วย AI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668000" y="595312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01 /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28800" y="4500562"/>
            <a:ext cx="2026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Framework Core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Next.js + React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998118" y="4500562"/>
            <a:ext cx="2026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Storage &amp; Auth Boundary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Supabase Database &amp; Storage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167437" y="4500562"/>
            <a:ext cx="2026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AI Model Core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Gemini Doc Intelligence + RAG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36756" y="4500562"/>
            <a:ext cx="2026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Key Modules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Rework, Storage, RAG, Guide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762000" y="5986462"/>
            <a:ext cx="76200" cy="76200"/>
          </a:xfrm>
          <a:prstGeom prst="roundRect">
            <a:avLst>
              <a:gd fmla="val 50000" name="adj"/>
            </a:avLst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914400" y="59531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084189"/>
            <a:ext cx="5310187" cy="3118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084189"/>
            <a:ext cx="5310187" cy="311824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006673" y="476250"/>
            <a:ext cx="110445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ที่มา ความสำคัญ และเป้าหมายโครงการ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57212"/>
            <a:ext cx="22562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02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42975" y="2827139"/>
            <a:ext cx="4795837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พัฒนาระบบ QSMS (Quality and Safety Management System) เพื่อปฏิรูปกระบวนการทำงานแบบดั้งเดิมไปสู่ระบบดิจิทัล (Digitization) ยกระดับประสิทธิภาพการบันทึกงาน และความโปร่งใสในข้อมูลเพื่อการวิเคราะห์ทางวิศวกรรม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491287" y="2827139"/>
            <a:ext cx="4795837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สร้างศูนย์กลางการทำงานที่มีประสิทธิภาพในการตามรอย ประเมินมูลค่า และลดภาระงานผ่านปัญญาประดิษฐ์อัจฉริยะ: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975" y="232231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381125" y="2388989"/>
            <a:ext cx="2447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ที่มาและความสำคัญ (Background)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171575" y="3699271"/>
            <a:ext cx="45672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ปรับเปลี่ยนระบบการทำงานไปสู่โครงสร้างฐานข้อมูลที่มีสัญญาสิทธิ์ชัดเจน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71575" y="3994546"/>
            <a:ext cx="45672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สกัดสารสนเทศจากข้อมูลเพื่อใช้ในการวิเคราะห์และจัดทำรายงาน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91287" y="232231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6929437" y="2388989"/>
            <a:ext cx="3209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เป้าหมายหลักของโครงงาน (Core Objectives)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19887" y="3478410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Centralized Tracking: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สร้างศูนย์กลางการบันทึก แจ้งเตือน และตรวจสอบสถานะงาน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19887" y="3973710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Accurate Valuation: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ระบบคำนวณราคาและชั่วโมงแรงงานซ่อมเพื่อปิดช่องโหว่ทางบัญชี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19887" y="4469010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AI Assistance: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นำปัญญาประดิษฐ์เข้ามาแกะสารสนเทศเพื่อลดอัตราความคลาดเคลื่อน</a:t>
            </a:r>
            <a:endParaRPr/>
          </a:p>
        </p:txBody>
      </p:sp>
      <p:pic>
        <p:nvPicPr>
          <p:cNvPr descr="image.png" id="123" name="Google Shape;12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718321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013596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1287" y="349746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1287" y="399276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1287" y="4488060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65226"/>
            <a:ext cx="3492400" cy="1756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765226"/>
            <a:ext cx="3492549" cy="1756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2700" y="2765226"/>
            <a:ext cx="3492400" cy="175617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1006673" y="476250"/>
            <a:ext cx="110445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ปัญหาและข้อจำกัดของกระบวนการเดิม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57212"/>
            <a:ext cx="22562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03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04875" y="3460551"/>
            <a:ext cx="3016150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การจัดการงานแก้ไขสินค้า (Rework) ใช้กระดาษและ Excel เป็นหลัก ข้อมูลเคส รูปหลักฐาน และข้อมูล Master อยู่แยกส่วน ส่งผลให้การตามรอยย้อนกลับ (Traceability) ทำได้ยากและช้า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587775" y="3460551"/>
            <a:ext cx="3016299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ฝ่ายบัญชีและฝ่ายการเงินประเมินต้นทุนผิดพลาดและต่ำกว่าความเป็นจริง (Under-valuation) เนื่องจากไม่เห็นข้อมูลค่าวัสดุและชั่วโมงแรงงานจริงที่ถูกใช้ไปในหน้างานการผลิต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270825" y="3460551"/>
            <a:ext cx="3016150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เกิดข้อผิดพลาดจากมนุษย์ (Human Error) ในการกรอกรหัสสินค้าหน้างาน และโรงงานยังขาดแหล่งรวบรวมคู่มือการซ่อมแซมเชิงเทคนิค ทำให้การสืบค้นข้อมูลคู่มือเป็นอุปสรรคสำคัญ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300335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343025" y="3070025"/>
            <a:ext cx="195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ข้อมูลกระจัดกระจาย</a:t>
            </a:r>
            <a:endParaRPr/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7775" y="300335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025925" y="3070026"/>
            <a:ext cx="20288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การประเมินราคาคลาดเคลื่อน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0825" y="300335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8708975" y="3070026"/>
            <a:ext cx="205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ข้อผิดพลาดและความรู้ที่จำกัด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00725"/>
            <a:ext cx="10668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6875" y="2581275"/>
            <a:ext cx="1238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3386758" y="3095625"/>
            <a:ext cx="541833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  <a:sym typeface="Sarabun ExtraBold"/>
              </a:rPr>
              <a:t>งานวิจัยและทฤษฎีที่เกี่ยวข้อง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3395662" y="3752850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1D3B9"/>
                </a:solidFill>
                <a:latin typeface="Sarabun Light"/>
                <a:ea typeface="Sarabun Light"/>
                <a:cs typeface="Sarabun Light"/>
                <a:sym typeface="Sarabun Light"/>
              </a:rPr>
              <a:t>สถาปัตยกรรมเว็บสมัยใหม่ การจัดการความถูกต้องของฐานข้อมูล และโมเดลปัญญาประดิษฐ์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0668000" y="595312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04 /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762000" y="5986462"/>
            <a:ext cx="76200" cy="76200"/>
          </a:xfrm>
          <a:prstGeom prst="roundRect">
            <a:avLst>
              <a:gd fmla="val 50000" name="adj"/>
            </a:avLst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914400" y="59531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391965"/>
            <a:ext cx="5310187" cy="2502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391965"/>
            <a:ext cx="5310187" cy="2502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3187" y="3771007"/>
            <a:ext cx="4833937" cy="88552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1006673" y="476250"/>
            <a:ext cx="110445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สถาปัตยกรรมเว็บและการจัดการความถูกต้อง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557212"/>
            <a:ext cx="22562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05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04875" y="3087290"/>
            <a:ext cx="4833937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การพัฒนาระบบแบบ Single Page Application (SPA) ผ่านเทคโนโลยี Next.js App Router ร่วมกับ React เพื่อมอบประสบการณ์การทำงานที่ลื่นไหลระดับ Native Application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04875" y="3936652"/>
            <a:ext cx="483393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ระบบเชื่อมต่อกับฐานข้อมูล Cloud-based Performance สูงอย่าง </a:t>
            </a: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Supabase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ผ่านทาง API Route Boundary ควบคุมขอบเขตความปลอดภัยจากหลังบ้านอย่างสมบูรณ์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453187" y="3087290"/>
            <a:ext cx="483393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ทฤษฎีการควบคุมฐานข้อมูลเพื่อป้องกันข้อมูลขยะ (Data Pollution) เพื่อรักษาความสมบูรณ์เชิงโครงสร้าง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26300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343025" y="2696765"/>
            <a:ext cx="19716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Modern Web Architecture</a:t>
            </a:r>
            <a:endParaRPr/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3187" y="26300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6891337" y="2696765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Transaction &amp; Data Integrity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634162" y="3913882"/>
            <a:ext cx="451008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B2925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ตัวอย่างการควบคุมเชิงระบบ (Transaction Rollback):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634162" y="4167187"/>
            <a:ext cx="451008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ระบบจะทำการยกเลิกการบันทึกเคสทันที (Rollback) หากกระบวนการอัปโหลดรูปภาพหลักฐานความเสียหายเกิดความล้มเหลว เพื่อไม่ให้มีเคสเปล่าปรากฏในระบบ</a:t>
            </a:r>
            <a:endParaRPr/>
          </a:p>
        </p:txBody>
      </p:sp>
      <p:pic>
        <p:nvPicPr>
          <p:cNvPr descr="image.png" id="189" name="Google Shape;18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6087" y="3936645"/>
            <a:ext cx="133350" cy="128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9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357586"/>
            <a:ext cx="5310187" cy="2571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006673" y="476250"/>
            <a:ext cx="110445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ปัญญาประดิษฐ์และการสกัดข้อมูลอัจฉริยะ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57212"/>
            <a:ext cx="22562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06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pic>
        <p:nvPicPr>
          <p:cNvPr descr="image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59571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1343025" y="2662386"/>
            <a:ext cx="21240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RAG &amp; Multimodal OCR Tech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04875" y="3100536"/>
            <a:ext cx="4833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Retrieval-Augmented Generation (RAG)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04875" y="3310086"/>
            <a:ext cx="4833937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ประยุกต์ใช้โมเดลภาษาร่วมกับ Jina AI เพื่อตัดแต่งเนื้อหา (Text Chunking) และเก็บเป็น Vector Embedding สำหรับการถามตอบอัจฉริยะ ค้นหาประวัติคู่มือการซ่อมแบบ Semantic Search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04875" y="4070002"/>
            <a:ext cx="4833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Multimodal OCR (Google Gemini)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04875" y="4279552"/>
            <a:ext cx="4833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ใช้ประโยชน์จากวิสัยทัศน์ของโมเดลในการสกัดข้อมูลหลัก (Metadata Extraction) ออกจากไฟล์</a:t>
            </a:r>
            <a:r>
              <a:rPr lang="en-US" sz="1012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สูตรของลูกค้า</a:t>
            </a: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(Drawings) ด้วยระบบประมวลผลอัตโนมัติ</a:t>
            </a:r>
            <a:endParaRPr/>
          </a:p>
        </p:txBody>
      </p:sp>
      <p:pic>
        <p:nvPicPr>
          <p:cNvPr descr="image.png" id="209" name="Google Shape;20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9200" y="2014675"/>
            <a:ext cx="444827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9200" y="2314712"/>
            <a:ext cx="4448284" cy="257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9894" y="2098651"/>
            <a:ext cx="3599467" cy="1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6837324" y="2147636"/>
            <a:ext cx="80100" cy="6990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33550" lIns="67175" spcFirstLastPara="1" rIns="67175" wrap="square" tIns="3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981462" y="2147636"/>
            <a:ext cx="80100" cy="6990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33550" lIns="67175" spcFirstLastPara="1" rIns="67175" wrap="square" tIns="3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125601" y="2147636"/>
            <a:ext cx="80100" cy="6990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33550" lIns="67175" spcFirstLastPara="1" rIns="67175" wrap="square" tIns="3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978098" y="476250"/>
            <a:ext cx="1107450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ความปลอดภัยและการควบคุมสิทธิ์ใช้งาน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57212"/>
            <a:ext cx="19704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666750" y="2434530"/>
            <a:ext cx="10858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ทฤษฎีการแบ่งแยกหน้าที่การทำงาน (Separation of Duties) ผ่านระบบความปลอดภัย Role-Based Access Control (RBAC) เพื่อป้องกันการเข้าถึงข้อมูลอ่อนไหวระดับหน้าฟรอนต์เอนด์และ API Server:</a:t>
            </a:r>
            <a:endParaRPr/>
          </a:p>
        </p:txBody>
      </p:sp>
      <p:graphicFrame>
        <p:nvGraphicFramePr>
          <p:cNvPr id="225" name="Google Shape;225;p19"/>
          <p:cNvGraphicFramePr/>
          <p:nvPr/>
        </p:nvGraphicFramePr>
        <p:xfrm>
          <a:off x="666750" y="2748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{0FC34246-1C6B-4272-B706-020A2DD5FDA8}</a:tableStyleId>
              </a:tblPr>
              <a:tblGrid>
                <a:gridCol w="4335650"/>
                <a:gridCol w="2167825"/>
                <a:gridCol w="2167825"/>
                <a:gridCol w="2168125"/>
              </a:tblGrid>
              <a:tr h="4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สิทธิ์การดำเนินการระบบ (System Actions)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92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Operator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92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Finance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92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QSMS 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9287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สร้างเคสและบันทึกภาพถ่ายหลักฐาน (Rework Case)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Allowed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Blocked</a:t>
                      </a:r>
                      <a:endParaRPr/>
                    </a:p>
                  </a:txBody>
                  <a:tcPr marT="25400" marB="25400" marR="63500" marL="190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Allowed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ประเมินราคาทุนและค่าแรงจริง (Valuation)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Blocked</a:t>
                      </a:r>
                      <a:endParaRPr/>
                    </a:p>
                  </a:txBody>
                  <a:tcPr marT="25400" marB="25400" marR="63500" marL="190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Allowed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Allowed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 SemiBold"/>
                          <a:ea typeface="Sarabun SemiBold"/>
                          <a:cs typeface="Sarabun SemiBold"/>
                          <a:sym typeface="Sarabun SemiBold"/>
                        </a:rPr>
                        <a:t>จัดการผู้ใช้ แก้ไขข้อมูล Drawing และส่งออกรายงาน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Blocked</a:t>
                      </a:r>
                      <a:endParaRPr/>
                    </a:p>
                  </a:txBody>
                  <a:tcPr marT="25400" marB="25400" marR="63500" marL="190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Blocked</a:t>
                      </a:r>
                      <a:endParaRPr/>
                    </a:p>
                  </a:txBody>
                  <a:tcPr marT="25400" marB="25400" marR="63500" marL="190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1B292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Allowed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9"/>
          <p:cNvSpPr txBox="1"/>
          <p:nvPr/>
        </p:nvSpPr>
        <p:spPr>
          <a:xfrm>
            <a:off x="666750" y="4653855"/>
            <a:ext cx="108585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Security Rule:</a:t>
            </a:r>
            <a:r>
              <a:rPr b="0" i="0" lang="en-US" sz="97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Operator จะถูกบล็อกสิทธิ์การเข้าถึงข้อมูลค่าแรงและต้นทุนวัสดุ Rework จากฐานข้อมูลอย่างถาวรเพื่อความปลอดภัยสูงสุดของงบการเงินบริษัท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07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676275" y="3625155"/>
            <a:ext cx="433566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011935" y="3625155"/>
            <a:ext cx="216783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179766" y="3625155"/>
            <a:ext cx="216783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9347596" y="3625155"/>
            <a:ext cx="2168128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76275" y="4063305"/>
            <a:ext cx="433566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011935" y="4063305"/>
            <a:ext cx="216783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7179766" y="4063305"/>
            <a:ext cx="2167830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347596" y="4063305"/>
            <a:ext cx="2168128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9613" y="3310830"/>
            <a:ext cx="7524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6494" y="3310830"/>
            <a:ext cx="714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5423" y="3310830"/>
            <a:ext cx="7524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8663" y="3748980"/>
            <a:ext cx="714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7444" y="3748980"/>
            <a:ext cx="7524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5423" y="3748980"/>
            <a:ext cx="7524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8663" y="4187130"/>
            <a:ext cx="714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6494" y="4187130"/>
            <a:ext cx="714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5423" y="4187130"/>
            <a:ext cx="7524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00725"/>
            <a:ext cx="10668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6875" y="2581275"/>
            <a:ext cx="1238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2224266" y="3095625"/>
            <a:ext cx="774346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  <a:sym typeface="Sarabun ExtraBold"/>
              </a:rPr>
              <a:t>ขั้นตอนการดำเนินงานและสกีมาฐานข้อมูล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3700462" y="3752850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1D3B9"/>
                </a:solidFill>
                <a:latin typeface="Sarabun Light"/>
                <a:ea typeface="Sarabun Light"/>
                <a:cs typeface="Sarabun Light"/>
                <a:sym typeface="Sarabun Light"/>
              </a:rPr>
              <a:t>การวางแผนสถาปัตยกรรม วงจรชีวิตซอฟต์แวร์ และโครงสร้างความสัมพันธ์ข้อมูล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10668000" y="595312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08 /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762000" y="5986462"/>
            <a:ext cx="76200" cy="76200"/>
          </a:xfrm>
          <a:prstGeom prst="roundRect">
            <a:avLst>
              <a:gd fmla="val 50000" name="adj"/>
            </a:avLst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914400" y="59531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885950"/>
            <a:ext cx="6667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3730" y="18859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0685" y="18859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27641" y="1885950"/>
            <a:ext cx="6953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1200150"/>
            <a:ext cx="249733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53705" y="1200150"/>
            <a:ext cx="249733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40660" y="1200150"/>
            <a:ext cx="249733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27616" y="1200150"/>
            <a:ext cx="2497335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1035248" y="476250"/>
            <a:ext cx="11014501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ขั้นตอนการดำเนินงาน (Methodology)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6750" y="557212"/>
            <a:ext cx="25419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09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1801117" y="1400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6F2DD"/>
          </a:solidFill>
          <a:ln cap="flat" cmpd="sng" w="38100">
            <a:solidFill>
              <a:srgbClr val="65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866775" y="2219325"/>
            <a:ext cx="209728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Requirement Gathering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66775" y="2514600"/>
            <a:ext cx="209728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ลงพื้นที่ศึกษาปัญหาคลังสินค้า ฝ่ายบัญชี และฝ่ายผลิตหน้างาน เพื่อรวบรวมข้อกำหนดระบบที่ครบถ้วน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4588073" y="1400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6F2DD"/>
          </a:solidFill>
          <a:ln cap="flat" cmpd="sng" w="38100">
            <a:solidFill>
              <a:srgbClr val="65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653730" y="2219325"/>
            <a:ext cx="209728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System &amp; UX/UI Design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3653730" y="2514600"/>
            <a:ext cx="209728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ออกแบบโครงสร้างสกีมาฐานข้อมูล (ERD) และจำลองหน้าต่างการใช้งานสไตล์ Soft Glassmorphism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7375028" y="1400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6F2DD"/>
          </a:solidFill>
          <a:ln cap="flat" cmpd="sng" w="38100">
            <a:solidFill>
              <a:srgbClr val="65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6440685" y="2219325"/>
            <a:ext cx="209728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Core &amp; AI Dev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6440685" y="2514600"/>
            <a:ext cx="209728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พัฒนาระบบหลังบ้าน Next.js บังคับบันทึกรูปหลักฐาน และนำเข้าระบบ RAG กับโมเดลประมวลเอกสาร</a:t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10161984" y="1400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6F2DD"/>
          </a:solidFill>
          <a:ln cap="flat" cmpd="sng" w="38100">
            <a:solidFill>
              <a:srgbClr val="65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227641" y="2219325"/>
            <a:ext cx="209728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Testing &amp; Refinement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9227641" y="2514600"/>
            <a:ext cx="209728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ทำการทดสอบตรวจสอบ Data Integrity และปรับแต่งสไลด์การทำงานระบบให้พร้อมใช้งาน Responsive บนมือถือและคอมฯ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1209675" y="2438400"/>
            <a:ext cx="977265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1808857"/>
            <a:ext cx="5310187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3144142"/>
            <a:ext cx="4833937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915667"/>
            <a:ext cx="4833937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4687192"/>
            <a:ext cx="2369343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69468" y="4687192"/>
            <a:ext cx="2369343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1035248" y="476250"/>
            <a:ext cx="11014501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ภาพรวมระบบและการสัญจรของข้อมูล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" y="557212"/>
            <a:ext cx="25419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10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904875" y="2504182"/>
            <a:ext cx="48339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การสัญจรของข้อมูลระบบ (Overall System Architecture)</a:t>
            </a:r>
            <a:endParaRPr/>
          </a:p>
        </p:txBody>
      </p:sp>
      <p:pic>
        <p:nvPicPr>
          <p:cNvPr descr="image.png" id="311" name="Google Shape;311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4875" y="204698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1343025" y="2113657"/>
            <a:ext cx="2552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Overall System Architecture Flow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702593" y="3277492"/>
            <a:ext cx="714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1. ฝั่งผู้ใช้งาน:</a:t>
            </a:r>
            <a:endParaRPr/>
          </a:p>
        </p:txBody>
      </p:sp>
      <p:pic>
        <p:nvPicPr>
          <p:cNvPr descr="image.png" id="314" name="Google Shape;314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64693" y="366801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1473993" y="4049017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2. เซิร์ฟเวอร์หลัก (Next.js API):</a:t>
            </a:r>
            <a:endParaRPr/>
          </a:p>
        </p:txBody>
      </p:sp>
      <p:pic>
        <p:nvPicPr>
          <p:cNvPr descr="image.png" id="316" name="Google Shape;31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64693" y="443954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1156096" y="4820542"/>
            <a:ext cx="885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3. AI / Gemini API: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3592115" y="4820542"/>
            <a:ext cx="14382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4. ฐานข้อมูลหลัก (Supabase):</a:t>
            </a:r>
            <a:endParaRPr/>
          </a:p>
        </p:txBody>
      </p:sp>
      <p:pic>
        <p:nvPicPr>
          <p:cNvPr descr="image.png" id="319" name="Google Shape;3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75" y="1805850"/>
            <a:ext cx="5507125" cy="36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 title="1. ภาพรวมการทำงานของระบบ (Overall System Architecture).drawio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30725" y="2159712"/>
            <a:ext cx="5275816" cy="31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1035248" y="476250"/>
            <a:ext cx="1101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Database Relationship Schema (ERD)</a:t>
            </a:r>
            <a:endParaRPr b="1" sz="2400">
              <a:solidFill>
                <a:srgbClr val="1B2925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66750" y="942975"/>
            <a:ext cx="10858500" cy="1920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8" name="Google Shape;3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57212"/>
            <a:ext cx="25419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2263" y="969400"/>
            <a:ext cx="6307300" cy="55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1</a:t>
            </a: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819150" y="6238875"/>
            <a:ext cx="828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pic>
        <p:nvPicPr>
          <p:cNvPr id="334" name="Google Shape;334;p23" title="Rework Database EDR (Entity Relationship Diagram)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6098" y="1059602"/>
            <a:ext cx="5259625" cy="54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00725"/>
            <a:ext cx="10668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6875" y="2581275"/>
            <a:ext cx="1238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3524588" y="3095625"/>
            <a:ext cx="5142674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  <a:sym typeface="Sarabun ExtraBold"/>
              </a:rPr>
              <a:t>เจาะลึกระบบปฏิบัติงานหลัก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3443287" y="3752850"/>
            <a:ext cx="5305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1D3B9"/>
                </a:solidFill>
                <a:latin typeface="Sarabun Light"/>
                <a:ea typeface="Sarabun Light"/>
                <a:cs typeface="Sarabun Light"/>
                <a:sym typeface="Sarabun Light"/>
              </a:rPr>
              <a:t>การจัดการงานซ่อมแก้ไขสินค้า คลังความรู้อัจฉริยะ และการวิเคราะห์สกัดแบบแปลนด้วย AI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10668000" y="595312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2</a:t>
            </a: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762000" y="5986462"/>
            <a:ext cx="76200" cy="76200"/>
          </a:xfrm>
          <a:prstGeom prst="roundRect">
            <a:avLst>
              <a:gd fmla="val 50000" name="adj"/>
            </a:avLst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914400" y="59531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137469"/>
            <a:ext cx="5310187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137469"/>
            <a:ext cx="5310187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4587" y="2146994"/>
            <a:ext cx="5291137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4587" y="2613719"/>
            <a:ext cx="5291137" cy="2525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1837" y="2261294"/>
            <a:ext cx="428148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 txBox="1"/>
          <p:nvPr/>
        </p:nvSpPr>
        <p:spPr>
          <a:xfrm>
            <a:off x="1035248" y="476250"/>
            <a:ext cx="11014501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โมดูลจัดการใบงานแก้ไขสินค้า (Rework)</a:t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1" name="Google Shape;36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" y="557212"/>
            <a:ext cx="25419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3</a:t>
            </a: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942975" y="2832794"/>
            <a:ext cx="47958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ขั้นตอนปฏิบัติงาน Rework ตั้งแต่หน้างานผลิตจนถึงปิดงบการเงิน (Rework Case Lifecycle)</a:t>
            </a:r>
            <a:endParaRPr/>
          </a:p>
        </p:txBody>
      </p:sp>
      <p:pic>
        <p:nvPicPr>
          <p:cNvPr descr="image.png" id="366" name="Google Shape;36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975" y="237559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 txBox="1"/>
          <p:nvPr/>
        </p:nvSpPr>
        <p:spPr>
          <a:xfrm>
            <a:off x="1381125" y="2442269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Rework Case Lifecycle &amp; Operations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942975" y="3453705"/>
            <a:ext cx="47958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Pending (รอดำเนินการ):</a:t>
            </a:r>
            <a:r>
              <a:rPr b="0" i="0" lang="en-US" sz="9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สร้างใบงานซ่อม ระบุรุ่นสินค้า ล็อตผลิต และปัญหาหลัก</a:t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942975" y="3701355"/>
            <a:ext cx="4795837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942975" y="3864475"/>
            <a:ext cx="5167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In-Progress (กำลังซ่อม):</a:t>
            </a:r>
            <a:r>
              <a:rPr b="0" i="0" lang="en-US" sz="9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หน้างานเปลี่ยนฝา/ล้างถัง -&gt; บังคับอัปโหลดภาพหลักฐานความเสียหาย</a:t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942975" y="4168080"/>
            <a:ext cx="4795837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942975" y="4253805"/>
            <a:ext cx="47958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Awaiting Valuation (รอประเมิน):</a:t>
            </a:r>
            <a:r>
              <a:rPr b="0" i="0" lang="en-US" sz="9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ดึงเคสเสร็จส่งต่อบัญชีเพื่อใส่ค่าวัสดุและชั่วโมงแรงงานจริง</a:t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942975" y="4634805"/>
            <a:ext cx="4795837" cy="9525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1228725" y="4720530"/>
            <a:ext cx="45100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Completed (ปิดเคส):</a:t>
            </a:r>
            <a:r>
              <a:rPr b="0" i="0" lang="en-US" sz="9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สรุปต้นทุนจริง ตรวจสอบย้อนกลับ และส่งออก Excel</a:t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6376987" y="2327969"/>
            <a:ext cx="95250" cy="9525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6548437" y="2327969"/>
            <a:ext cx="95250" cy="9525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6719887" y="2327969"/>
            <a:ext cx="95250" cy="9525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 txBox="1"/>
          <p:nvPr/>
        </p:nvSpPr>
        <p:spPr>
          <a:xfrm>
            <a:off x="7108031" y="4005262"/>
            <a:ext cx="3524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[ พื้นที่จำลองหน้าจอระบบจริง / Webapp Screenshot Space ]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7312818" y="4214812"/>
            <a:ext cx="3114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แสดงหน้าป้อนข้อมูล Rework, ถ่ายภาพอัปโหลด และสถานะใบงานจริง</a:t>
            </a:r>
            <a:endParaRPr/>
          </a:p>
        </p:txBody>
      </p:sp>
      <p:pic>
        <p:nvPicPr>
          <p:cNvPr descr="image.png" id="380" name="Google Shape;380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345370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2475" y="384421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2950" y="432524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2975" y="472053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55843" y="34718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90600" y="4763392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295843" y="2641325"/>
            <a:ext cx="5167502" cy="2470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361307"/>
            <a:ext cx="5310187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361307"/>
            <a:ext cx="5310187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677542"/>
            <a:ext cx="4833937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 txBox="1"/>
          <p:nvPr/>
        </p:nvSpPr>
        <p:spPr>
          <a:xfrm>
            <a:off x="1006673" y="476250"/>
            <a:ext cx="110445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ระบบสกัดแบบแปลนและตรวจสอบข้อมูล</a:t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8" name="Google Shape;39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557212"/>
            <a:ext cx="22562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6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4</a:t>
            </a: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904875" y="3056632"/>
            <a:ext cx="48339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ขั้นตอนสกัดข้อมูลวิศวกรรม (AI Document OCR Workflow)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6453187" y="3085207"/>
            <a:ext cx="483393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การจัดระเบียบและตรวจสอบข้อมูลทันทีเมื่อผู้ใช้ป้อนรหัสสินค้า (Referenced: "ระบบช่วยตรวจสอบและป้องกันข้อมูลผิดพลาด (Smart Verification).drawio.png")</a:t>
            </a:r>
            <a:endParaRPr/>
          </a:p>
        </p:txBody>
      </p:sp>
      <p:pic>
        <p:nvPicPr>
          <p:cNvPr descr="image.png" id="404" name="Google Shape;40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259943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1343025" y="2666107"/>
            <a:ext cx="2114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AI Document OCR Workflow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1028700" y="3801367"/>
            <a:ext cx="4586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• อัปโหลด PDF:</a:t>
            </a:r>
            <a:r>
              <a:rPr b="0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วิศวกรอัปโหลดไฟล์ PDF แบบแปลนวิศวกรรม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• AI Parser:</a:t>
            </a:r>
            <a:r>
              <a:rPr b="0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Google Gemini แกะเลขรหัสสินค้า, แบบแปลน No, Rev, และ Part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• Autofill:</a:t>
            </a:r>
            <a:r>
              <a:rPr b="0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ดึงสารสนเทศป้อนข้อมูลในตารางลงฟอร์มหน้าเว็บโดยอัตโนมัติ ลดข้อผิดพลาดการ</a:t>
            </a:r>
            <a:endParaRPr b="0" i="0" sz="937" u="none" cap="none" strike="noStrike">
              <a:solidFill>
                <a:srgbClr val="1B2925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กรอกด้วยมนุษย์</a:t>
            </a:r>
            <a:endParaRPr/>
          </a:p>
        </p:txBody>
      </p:sp>
      <p:pic>
        <p:nvPicPr>
          <p:cNvPr descr="image.png" id="407" name="Google Shape;407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3187" y="262800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6"/>
          <p:cNvSpPr txBox="1"/>
          <p:nvPr/>
        </p:nvSpPr>
        <p:spPr>
          <a:xfrm>
            <a:off x="6891337" y="2694682"/>
            <a:ext cx="18383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Smart Verification Logic</a:t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6453187" y="3658492"/>
            <a:ext cx="4833937" cy="228600"/>
          </a:xfrm>
          <a:prstGeom prst="rect">
            <a:avLst/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6548437" y="3696592"/>
            <a:ext cx="4738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5C46"/>
                </a:solidFill>
                <a:latin typeface="Sarabun"/>
                <a:ea typeface="Sarabun"/>
                <a:cs typeface="Sarabun"/>
                <a:sym typeface="Sarabun"/>
              </a:rPr>
              <a:t>Match (ข้อมูลตรงกัน):</a:t>
            </a:r>
            <a:r>
              <a:rPr b="0" i="0" lang="en-US" sz="9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ดึงข้อมูลสเปกสินค้าลงตารางฟอร์มอัตโนมัติ (Autofill)</a:t>
            </a:r>
            <a:endParaRPr/>
          </a:p>
        </p:txBody>
      </p:sp>
      <p:sp>
        <p:nvSpPr>
          <p:cNvPr id="411" name="Google Shape;411;p26"/>
          <p:cNvSpPr/>
          <p:nvPr/>
        </p:nvSpPr>
        <p:spPr>
          <a:xfrm>
            <a:off x="6453187" y="3658492"/>
            <a:ext cx="28575" cy="228600"/>
          </a:xfrm>
          <a:prstGeom prst="rect">
            <a:avLst/>
          </a:prstGeom>
          <a:solidFill>
            <a:srgbClr val="2D5C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6453187" y="3963292"/>
            <a:ext cx="4833937" cy="228600"/>
          </a:xfrm>
          <a:prstGeom prst="rect">
            <a:avLst/>
          </a:prstGeom>
          <a:solidFill>
            <a:srgbClr val="DE72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6548437" y="4001392"/>
            <a:ext cx="4738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A221C"/>
                </a:solidFill>
                <a:latin typeface="Sarabun"/>
                <a:ea typeface="Sarabun"/>
                <a:cs typeface="Sarabun"/>
                <a:sym typeface="Sarabun"/>
              </a:rPr>
              <a:t>Conflict (ข้อมูลขัดแย้ง):</a:t>
            </a:r>
            <a:r>
              <a:rPr b="0" i="0" lang="en-US" sz="9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ระบบส่งสัญญาณเตือนสีแดง บล็อกสิทธิ์ไม่ให้ผู้ใช้งานกดเซฟคีย์ซ้ำ</a:t>
            </a: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6453187" y="3963292"/>
            <a:ext cx="28575" cy="228600"/>
          </a:xfrm>
          <a:prstGeom prst="rect">
            <a:avLst/>
          </a:prstGeom>
          <a:solidFill>
            <a:srgbClr val="7A2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6453187" y="4268092"/>
            <a:ext cx="4833937" cy="22860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 txBox="1"/>
          <p:nvPr/>
        </p:nvSpPr>
        <p:spPr>
          <a:xfrm>
            <a:off x="6548437" y="4306192"/>
            <a:ext cx="4738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B3D35"/>
                </a:solidFill>
                <a:latin typeface="Sarabun"/>
                <a:ea typeface="Sarabun"/>
                <a:cs typeface="Sarabun"/>
                <a:sym typeface="Sarabun"/>
              </a:rPr>
              <a:t>New Item (สินค้าใหม่):</a:t>
            </a:r>
            <a:r>
              <a:rPr b="0" i="0" lang="en-US" sz="9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 ปลดล็อกให้ป้อนรายละเอียดด้วยตัวเองและอัปเดตเข้าฐาน Master</a:t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6453187" y="4268092"/>
            <a:ext cx="28575" cy="228600"/>
          </a:xfrm>
          <a:prstGeom prst="rect">
            <a:avLst/>
          </a:prstGeom>
          <a:solidFill>
            <a:srgbClr val="1B3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425" y="2378425"/>
            <a:ext cx="5637501" cy="252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0632" y="3460402"/>
            <a:ext cx="4833937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7"/>
          <p:cNvSpPr txBox="1"/>
          <p:nvPr/>
        </p:nvSpPr>
        <p:spPr>
          <a:xfrm>
            <a:off x="1063823" y="476250"/>
            <a:ext cx="1098449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โมดูลคลังความรู้อัจฉริยะ (QSMS DocAI)</a:t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8" name="Google Shape;42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57212"/>
            <a:ext cx="28277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7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5</a:t>
            </a: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904875" y="3073747"/>
            <a:ext cx="483393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ระบบสืบค้นข้อมูลคู่มือเชิงความหมายและการตอบคำถามแบบ Streaming (SSE):</a:t>
            </a:r>
            <a:endParaRPr/>
          </a:p>
        </p:txBody>
      </p:sp>
      <p:pic>
        <p:nvPicPr>
          <p:cNvPr descr="image.png" id="433" name="Google Shape;43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26165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7"/>
          <p:cNvSpPr txBox="1"/>
          <p:nvPr/>
        </p:nvSpPr>
        <p:spPr>
          <a:xfrm>
            <a:off x="1343025" y="2683222"/>
            <a:ext cx="2705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AI Knowledge Ingestion &amp; RAG Flow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1028700" y="3804525"/>
            <a:ext cx="20973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• Ingestion</a:t>
            </a:r>
            <a:r>
              <a:rPr b="1" i="0" lang="en-US" sz="937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(AI Ingestion)</a:t>
            </a:r>
            <a:r>
              <a:rPr b="1" i="0" lang="en-US" sz="937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: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1028700" y="4184302"/>
            <a:ext cx="1543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• Real-time Chatbot (SSE):</a:t>
            </a:r>
            <a:endParaRPr/>
          </a:p>
        </p:txBody>
      </p:sp>
      <p:grpSp>
        <p:nvGrpSpPr>
          <p:cNvPr id="437" name="Google Shape;437;p27"/>
          <p:cNvGrpSpPr/>
          <p:nvPr/>
        </p:nvGrpSpPr>
        <p:grpSpPr>
          <a:xfrm>
            <a:off x="6519532" y="1618309"/>
            <a:ext cx="2337095" cy="206199"/>
            <a:chOff x="6224587" y="2387947"/>
            <a:chExt cx="5291137" cy="466725"/>
          </a:xfrm>
        </p:grpSpPr>
        <p:pic>
          <p:nvPicPr>
            <p:cNvPr descr="image.png" id="438" name="Google Shape;438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24587" y="2387947"/>
              <a:ext cx="5291137" cy="46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439" name="Google Shape;439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81837" y="2502247"/>
              <a:ext cx="4281488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27"/>
            <p:cNvSpPr/>
            <p:nvPr/>
          </p:nvSpPr>
          <p:spPr>
            <a:xfrm>
              <a:off x="637698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654843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71988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3" name="Google Shape;443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88075" y="1824350"/>
            <a:ext cx="2337172" cy="40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19475" y="1824350"/>
            <a:ext cx="2337176" cy="4010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27"/>
          <p:cNvGrpSpPr/>
          <p:nvPr/>
        </p:nvGrpSpPr>
        <p:grpSpPr>
          <a:xfrm>
            <a:off x="9188119" y="1618309"/>
            <a:ext cx="2337095" cy="206199"/>
            <a:chOff x="6224587" y="2387947"/>
            <a:chExt cx="5291137" cy="466725"/>
          </a:xfrm>
        </p:grpSpPr>
        <p:pic>
          <p:nvPicPr>
            <p:cNvPr descr="image.png" id="446" name="Google Shape;446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24587" y="2387947"/>
              <a:ext cx="5291137" cy="46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447" name="Google Shape;447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81837" y="2502247"/>
              <a:ext cx="4281488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27"/>
            <p:cNvSpPr/>
            <p:nvPr/>
          </p:nvSpPr>
          <p:spPr>
            <a:xfrm>
              <a:off x="637698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654843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6719887" y="2568922"/>
              <a:ext cx="95400" cy="95400"/>
            </a:xfrm>
            <a:prstGeom prst="roundRect">
              <a:avLst>
                <a:gd fmla="val 50000" name="adj"/>
              </a:avLst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20175" lIns="40400" spcFirstLastPara="1" rIns="40400" wrap="square" tIns="20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5" name="Google Shape;4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00725"/>
            <a:ext cx="10668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6875" y="2581275"/>
            <a:ext cx="1238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 txBox="1"/>
          <p:nvPr/>
        </p:nvSpPr>
        <p:spPr>
          <a:xfrm>
            <a:off x="2822778" y="3095625"/>
            <a:ext cx="654644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  <a:sym typeface="Sarabun ExtraBold"/>
              </a:rPr>
              <a:t>ผลลัพธ์และการประเมินผลโครงการ</a:t>
            </a:r>
            <a:endParaRPr/>
          </a:p>
        </p:txBody>
      </p:sp>
      <p:sp>
        <p:nvSpPr>
          <p:cNvPr id="460" name="Google Shape;460;p28"/>
          <p:cNvSpPr txBox="1"/>
          <p:nvPr/>
        </p:nvSpPr>
        <p:spPr>
          <a:xfrm>
            <a:off x="3429000" y="37528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1D3B9"/>
                </a:solidFill>
                <a:latin typeface="Sarabun Light"/>
                <a:ea typeface="Sarabun Light"/>
                <a:cs typeface="Sarabun Light"/>
                <a:sym typeface="Sarabun Light"/>
              </a:rPr>
              <a:t>ผลการดำเนินงานจริง จุดแข็งในการใช้งาน ข้อจำกัด และกรอบแผนงานพัฒนาต่อในอนาคต</a:t>
            </a:r>
            <a:endParaRPr/>
          </a:p>
        </p:txBody>
      </p:sp>
      <p:sp>
        <p:nvSpPr>
          <p:cNvPr id="461" name="Google Shape;461;p28"/>
          <p:cNvSpPr txBox="1"/>
          <p:nvPr/>
        </p:nvSpPr>
        <p:spPr>
          <a:xfrm>
            <a:off x="10668000" y="595312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6</a:t>
            </a: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462" name="Google Shape;462;p28"/>
          <p:cNvSpPr/>
          <p:nvPr/>
        </p:nvSpPr>
        <p:spPr>
          <a:xfrm>
            <a:off x="762000" y="5986462"/>
            <a:ext cx="76200" cy="76200"/>
          </a:xfrm>
          <a:prstGeom prst="roundRect">
            <a:avLst>
              <a:gd fmla="val 50000" name="adj"/>
            </a:avLst>
          </a:prstGeom>
          <a:solidFill>
            <a:srgbClr val="88BD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 txBox="1"/>
          <p:nvPr/>
        </p:nvSpPr>
        <p:spPr>
          <a:xfrm>
            <a:off x="914400" y="59531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2DD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8" name="Google Shape;4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086475"/>
            <a:ext cx="10858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226022"/>
            <a:ext cx="5310187" cy="2834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226022"/>
            <a:ext cx="5310187" cy="28345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9"/>
          <p:cNvSpPr txBox="1"/>
          <p:nvPr/>
        </p:nvSpPr>
        <p:spPr>
          <a:xfrm>
            <a:off x="978098" y="476250"/>
            <a:ext cx="1107450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การประเมินโครงการและแผนการพัฒนาต่อ</a:t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666750" y="942975"/>
            <a:ext cx="10858500" cy="19050"/>
          </a:xfrm>
          <a:prstGeom prst="rect">
            <a:avLst/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4" name="Google Shape;47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57212"/>
            <a:ext cx="19704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 txBox="1"/>
          <p:nvPr/>
        </p:nvSpPr>
        <p:spPr>
          <a:xfrm>
            <a:off x="10763250" y="6238875"/>
            <a:ext cx="76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SLIDE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 / 1</a:t>
            </a:r>
            <a:r>
              <a:rPr lang="en-US"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7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666750" y="6272212"/>
            <a:ext cx="76200" cy="76200"/>
          </a:xfrm>
          <a:prstGeom prst="roundRect">
            <a:avLst>
              <a:gd fmla="val 50000" name="adj"/>
            </a:avLst>
          </a:prstGeom>
          <a:solidFill>
            <a:srgbClr val="659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819150" y="623887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QSMS PORTAL</a:t>
            </a:r>
            <a:endParaRPr/>
          </a:p>
        </p:txBody>
      </p:sp>
      <p:sp>
        <p:nvSpPr>
          <p:cNvPr id="478" name="Google Shape;478;p29"/>
          <p:cNvSpPr txBox="1"/>
          <p:nvPr/>
        </p:nvSpPr>
        <p:spPr>
          <a:xfrm>
            <a:off x="942975" y="2921347"/>
            <a:ext cx="479583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การนำสัญญาสิทธิ์มาออกแบบขอบเขตระบบปฏิบัติการ ได้มอบผลลัพธ์ที่จับต้องได้ดังนี้:</a:t>
            </a:r>
            <a:endParaRPr/>
          </a:p>
        </p:txBody>
      </p:sp>
      <p:pic>
        <p:nvPicPr>
          <p:cNvPr descr="image.png" id="479" name="Google Shape;47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975" y="24641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 txBox="1"/>
          <p:nvPr/>
        </p:nvSpPr>
        <p:spPr>
          <a:xfrm>
            <a:off x="1381125" y="2530822"/>
            <a:ext cx="3009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จุดแข็งและผลสัมฤทธิ์ (Project Strengths)</a:t>
            </a:r>
            <a:endParaRPr/>
          </a:p>
        </p:txBody>
      </p:sp>
      <p:sp>
        <p:nvSpPr>
          <p:cNvPr id="481" name="Google Shape;481;p29"/>
          <p:cNvSpPr txBox="1"/>
          <p:nvPr/>
        </p:nvSpPr>
        <p:spPr>
          <a:xfrm>
            <a:off x="1171575" y="3336577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Paperless &amp; Efficiency: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ลดการใช้กระดาษและลดเวลาที่สูญเสียไปกับการค้นหาและประสานงานข้อมูลลงได้อย่างมหาศาล</a:t>
            </a:r>
            <a:endParaRPr/>
          </a:p>
        </p:txBody>
      </p:sp>
      <p:sp>
        <p:nvSpPr>
          <p:cNvPr id="482" name="Google Shape;482;p29"/>
          <p:cNvSpPr txBox="1"/>
          <p:nvPr/>
        </p:nvSpPr>
        <p:spPr>
          <a:xfrm>
            <a:off x="1171575" y="3831877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Smart Verification &amp; Accuracy: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การผูกโยงข้อมูลสเปกเข้ากับตาราง Master DB ช่วยลบความคลาดเคลื่อนทางคลังสินค้าลงได้อย่างมีนัยสำคัญ</a:t>
            </a:r>
            <a:endParaRPr/>
          </a:p>
        </p:txBody>
      </p:sp>
      <p:sp>
        <p:nvSpPr>
          <p:cNvPr id="483" name="Google Shape;483;p29"/>
          <p:cNvSpPr txBox="1"/>
          <p:nvPr/>
        </p:nvSpPr>
        <p:spPr>
          <a:xfrm>
            <a:off x="1171575" y="4327177"/>
            <a:ext cx="4567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Traceability &amp; Transparency:</a:t>
            </a:r>
            <a:r>
              <a:rPr b="0" i="0" lang="en-US" sz="1050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 ฝ่ายบัญชีสามารถคำนวณต้นทุน Rework ได้ตามจริงและโปร่งใสสูงสุด ตรวจสอบย้อนกลับประวัติได้ทุกใบงาน</a:t>
            </a:r>
            <a:endParaRPr/>
          </a:p>
        </p:txBody>
      </p:sp>
      <p:pic>
        <p:nvPicPr>
          <p:cNvPr descr="image.png" id="484" name="Google Shape;48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91287" y="24641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9"/>
          <p:cNvSpPr txBox="1"/>
          <p:nvPr/>
        </p:nvSpPr>
        <p:spPr>
          <a:xfrm>
            <a:off x="6929437" y="2530822"/>
            <a:ext cx="28670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ข้อจำกัดและอนาคต (Roadmap &amp; Limits)</a:t>
            </a:r>
            <a:endParaRPr/>
          </a:p>
        </p:txBody>
      </p:sp>
      <p:pic>
        <p:nvPicPr>
          <p:cNvPr descr="image.png" id="486" name="Google Shape;486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35562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85092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346227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9"/>
          <p:cNvSpPr txBox="1"/>
          <p:nvPr/>
        </p:nvSpPr>
        <p:spPr>
          <a:xfrm>
            <a:off x="6491287" y="2988022"/>
            <a:ext cx="2124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1. การขยายระบบ (AI Fine-tuning):</a:t>
            </a:r>
            <a:endParaRPr/>
          </a:p>
        </p:txBody>
      </p:sp>
      <p:sp>
        <p:nvSpPr>
          <p:cNvPr id="490" name="Google Shape;490;p29"/>
          <p:cNvSpPr txBox="1"/>
          <p:nvPr/>
        </p:nvSpPr>
        <p:spPr>
          <a:xfrm>
            <a:off x="6491287" y="3168997"/>
            <a:ext cx="4795837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โมเดล RAG ในอนาคตมีแผนพัฒนาการ Fine-tune เพื่อเพิ่มพูนความฉลาดในการวิเคราะห์คำศัพท์ทางเทคนิคระดับโรงงานโดยเฉพาะให้แม่นยำยิ่งขึ้น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91287" y="3727102"/>
            <a:ext cx="2219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B2925"/>
                </a:solidFill>
                <a:latin typeface="Sarabun"/>
                <a:ea typeface="Sarabun"/>
                <a:cs typeface="Sarabun"/>
                <a:sym typeface="Sarabun"/>
              </a:rPr>
              <a:t>2. การเชื่อมต่อโครงข่ายองค์กร (SAP):</a:t>
            </a:r>
            <a:endParaRPr/>
          </a:p>
        </p:txBody>
      </p:sp>
      <p:sp>
        <p:nvSpPr>
          <p:cNvPr id="492" name="Google Shape;492;p29"/>
          <p:cNvSpPr txBox="1"/>
          <p:nvPr/>
        </p:nvSpPr>
        <p:spPr>
          <a:xfrm>
            <a:off x="6491287" y="3908077"/>
            <a:ext cx="4795837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E615C"/>
                </a:solidFill>
                <a:latin typeface="Sarabun"/>
                <a:ea typeface="Sarabun"/>
                <a:cs typeface="Sarabun"/>
                <a:sym typeface="Sarabun"/>
              </a:rPr>
              <a:t>ออกแบบแนวทางการเชื่อมระบบการเงินเข้ากับระบบ ERP หลักขององค์กร (เช่น SAP) โดยตรงผ่าน REST API เพื่อส่งมอบการทำบัญชีแบบอัตโนมัติ 100%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