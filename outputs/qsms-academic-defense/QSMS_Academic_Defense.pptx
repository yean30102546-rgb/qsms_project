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กล่าวทักทายคณะกรรมการ: แนะนำตัวและนำเสนอระบบ QSMS เพื่อแก้ปัญหาความสูญเสียในกระบวนการ Rework ของโรงงานบรรจุภัณฑ์น้ำมันและเคมีภัณฑ์ ด้วยสถาปัตยกรรม Closed-Loop และ AI เพื่อแก้ปัญหาความสูญเปล่าและการขาดการตรวจสอบย้อนกลับ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อธิบายลูกโซ่ความสูญเปล่าในกระบวนการเดิม 4 ขั้นตอน: จากการจดกระดาษล่าช้า 12.5 นาที ส่งผลให้คลังเบิกของมากองรอโดยไม่มีออเดอร์ (ยกซ้ำ 2 รอบ) เกิดข้อผิดพลาดพิมพ์รหัสผิด 8.3% และระบบ Google Sheets ล็อกเมื่อบันทึกข้อมูลพร้อมกัน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4 วัตถุประสงค์เชิงวิศวกรรม: จุดหลักคือ Closed-Loop MES 100% สนับสนุนด้วย 3 เสาหลัก ได้แก่ ข้อผิดพลาดเป็น 0%, AI OCR แม่นยำเกิน 95% และค้นหาคู่มือ SOP ด้วย DocAI ภายใน 1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อธิบายกระบวนการ Closed-Loop JIT: ไม่ให้ WPK เบิกของก่อน แต่ให้ QSMS วิเคราะห์ออก BOM รอบเดียว จากนั้น WPK จ่ายชิ้นส่วน แล้ว PDF ตรวจรับ (Handshake) ก่อนลงมือซ่อม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จุดเด่นคือ Two-Way Handshake: ฝั่งซ้ายคือ 3 ประตูส่งมอบงาน ถ้าของไม่ครบจะติด Defend Mode ทันที ส่วนฝั่งขวาคือ Bottleneck Radar คำนวณเวลางานค้าง 5 สถานะ ชี้เป้าแผนกที่ติดคอขวดแบบเรียลไทม์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System Architecture 4 เลเยอร์: ซ่อน Secrets ทั้งหมดหลัง Next.js API Routes, ข้อมูลเก็บใน PostgreSQL รองรับ ACID และ pgvector 768 มิติ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อธิบายผัง ERD 8 ตารางหลัก: เชื่อมโยง 1:N และ N:M ด้วย Foreign Key พร้อม Cascade Delete และ HNSW Vector Index ขนาด 768 มิติ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วิศวกรรม AI แบ่งออกเป็น 2 ท่อส่งข้อมูลที่ชัดเจน: ฝั่งซ้ายคือ Multimodal Drawing OCR สำหรับสกัดแบบแปลน PDF พร้อม 3-Tier Fallback ส่วนฝั่งขวาคือ DocAI Semantic RAG Engine ใช้ Jina 768 มิติ และ Supabase pgvector ร่วมกับ Streaming SSE 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สไลด์นี้เป็น Roadmap แนะนำ 4 ขั้นตอนที่กำลังจะเปิดระบบจริงให้ดู: 1. สร้างเคส 2. Handover และดูคอขวด 3. ทดสอบ AI Drawing 4. ทดสอบ DocAI Chat -&gt; สลับหน้าจอ (Alt+Tab) เข้าสู่ระบบจริงทันที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สรุปผลการประเมิน: AI OCR มีความแม่นยำ 96.36% อิง Ground Truth 100 รายการทดสอบ ผ่านการคำนวณ Wilson 95% Confidence Interval พร้อมชุดทดสอบ Vitest 131 เคส ผ่าน 100% และมี Atomic Rollback ป้องกันข้อมูลรูปภาพสูญหาย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ตารางเปรียบเทียบ Before vs After: เวลาเปิดเคสลดลง 66.4%, ข้อผิดพลาดรหัสกลายเป็น 0%, ขจัดปัญหาเบิกกล่องมากองรอ (Double Handling) เป็น 0 ครั้ง ค้นหาเอกสารเร็วขึ้น 95.8% และประหยัดต้นทุนคลาวด์ 100% ด้วยสถาปัตยกรรม Zero-Cost Capacity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สรุปภาพรวมและเปิดรับคำถามจากคณะกรรมการ โดยพร้อมชี้แจงประเด็น RBAC, AI Safety, Concurrency, และ Roadmap ในอนาคต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im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1005840" cy="97901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286000" y="1143000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SECTION 01 / INDUSTRIAL CONTEXT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87552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QSMS Rework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Closed-Loop MES &amp; Multimodal AI Operations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98755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ระบบบริหารจัดการกระบวนการแก้ไขผลิตภัณฑ์ (Rework) และคลังเอกสารมาตรฐานการผลิตอัจฉริยะสำหรับอุตสาหกรรมบรรจุภัณฑ์ปิโตรเคมี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บูรณาการสถาปัตยกรรม Closed-Loop MES, Supabase pgvector, และ Multimodal Gemini AI ขจัดความสูญเสียในสายการผลิต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9768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NEXT.JS 16 APP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29768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SUPABASE PGVECTOR (768-DIM)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429768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GEMINI MULTIMODAL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9768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0 THB CLOUD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846320"/>
            <a:ext cx="9994392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956048"/>
            <a:ext cx="9601200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ผู้พัฒนา: นายสพลฎณัย ชัยพงษ์ (รหัส 6752500398)  •  สาขาวิชาวิศวกรรมหุ่นยนต์และระบบอัตโนมัติ (Robotics &amp; Automation)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คณะวิศวกรรมศาสตร์และเทคโนโลยี  •  สถาบันการจัดการปัญญาภิวัฒน์ (PIM)  •  ปีการศึกษา 2568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01.2 • OPERATIONAL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Legacy Operational Waste Chain (ลูกโซ่ความสูญเปล่าในกระบวนการเดิม)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260604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260604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5544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STATION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65960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60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12.5 นาที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2240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Paper &amp; Excel Silos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2240280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จดกระดาษหน้าไลน์แล้วพิมพ์ซ้ำลงสเปรดชีต ข้อมูลกระจัดกระจาย ไม่เห็นยอดงานซ่อมแบบเรียลไทม์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1500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HIGH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74720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46704" y="1325880"/>
            <a:ext cx="260604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46704" y="1325880"/>
            <a:ext cx="26060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29584" y="15544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D97706"/>
                </a:solidFill>
                <a:latin typeface="Segoe UI"/>
                <a:cs typeface="Segoe UI"/>
                <a:ea typeface="Segoe UI"/>
              </a:rPr>
              <a:t>STATION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1965960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600" b="1">
                <a:solidFill>
                  <a:srgbClr val="D97706"/>
                </a:solidFill>
                <a:latin typeface="Segoe UI"/>
                <a:cs typeface="Segoe UI"/>
                <a:ea typeface="Segoe UI"/>
              </a:rPr>
              <a:t>2x รอบ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2606040"/>
            <a:ext cx="2240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Premature Requisition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3154680"/>
            <a:ext cx="2240280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คลัง (WPK) ดึงบรรจุภัณฑ์มากองรอก่อนรู้ BOM สเปกจริง ก่อให้เกิด Double Handling ยกซ้ำ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9584" y="571500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WASTE REQUISITION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474720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1325880"/>
            <a:ext cx="260604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1325880"/>
            <a:ext cx="26060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19088" y="15544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STATION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1965960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60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8.3%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2606040"/>
            <a:ext cx="2240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Human Error in Codes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154680"/>
            <a:ext cx="2240280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คีย์รหัสสินค้า 13 หลักผิดพลาดบ่อยครั้ง และมีรูปหลักฐานแนบเพียง 35% ขาด Traceability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088" y="571500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ZERO PROOF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3474720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25712" y="1325880"/>
            <a:ext cx="260604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25712" y="1325880"/>
            <a:ext cx="26060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08592" y="15544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SYSTEM FAILURE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1965960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6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100 req/m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2606040"/>
            <a:ext cx="2240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GAS Script Concurrency Lock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3154680"/>
            <a:ext cx="2240280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ติด Rate Limit ของ Google Apps Script ข้อมูลเขียนทับกันและไม่รองรับ ACID Transactions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08592" y="571500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SYSTEM 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01.3 • 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4 Measurable Engineering Targets (เป้าหมายเชิงวิศวกรรมที่วัดผลได้จริง)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438912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43891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600200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MASTER PROCESS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38404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80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Closed-Loop MES JIT Kitting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384048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เป้าหมายสูงสุดคือการเปลี่ยนผ่านสู่กระบวนการดิจิทัลไร้กระดาษ 100%: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/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✔ ควบคุมการส่งมอบงาน 5 ขั้นตอน (QSMS ➔ WPK ➔ PDF ➔ QC)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✔ ออก BOM เบิกวัสดุรอบเดียวจบ ขจัดปัญหาการเบิกของคั่งค้าง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✔ แสดงผล Operations Bottleneck Radar ชี้เป้าคอขวดแบบเรียลไทม์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✔ ตรวจสอบย้อนกลับ (Traceability) ได้ทุกขั้นตอน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325880"/>
            <a:ext cx="6611112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1463039"/>
            <a:ext cx="73152" cy="12618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645919"/>
            <a:ext cx="1371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527048"/>
            <a:ext cx="4800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Zero Human Error &amp; Enforced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911095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ตรวจสอบรหัสสินค้ากับ Master อัตโนมัติ บังคับแนบรูปถ่ายหลักฐานทุกรายการ หากอัปโหลดไม่ผ่านจะ Rollback ธุรกรรมทันที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5087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8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DATA INTEGRITY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999232"/>
            <a:ext cx="6611112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0640" y="3136392"/>
            <a:ext cx="73152" cy="12618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319272"/>
            <a:ext cx="1371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&gt;95%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00400"/>
            <a:ext cx="4800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Multimodal AI Drawing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584448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สกัดข้อมูลแบบแปลนวิศวกรรม PDF 7-8 ฟิลด์เข้าสู่ระบบด้วย Gemini Multimodal โดยไม่ต้องกรอกมือ พร้อมระบบ 3-Tier Fallback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318211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8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AI BENCHMARK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4672584"/>
            <a:ext cx="6611112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20640" y="4809744"/>
            <a:ext cx="73152" cy="1261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992624"/>
            <a:ext cx="1371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&lt;1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873752"/>
            <a:ext cx="4800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DocAI RAG Intelligent 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257800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ค้นหาแนวทางแก้ไขปัญหา Rework จากคู่มือมาตรฐาน (SOP) ผ่าน Semantic Vector Search 768 มิติ ภายใน 1 นาที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485546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8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KNOWLEDGE AGILITY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02.1 • MES WORKFLOW &amp;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Closed-Loop JIT Single-Batch Kitting (กระบวนการผลิตรอบเดียวเบ็ดเสร็จ)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3621024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554480"/>
            <a:ext cx="3218688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ANALYSIS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3218688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Step 01 / QSMS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60320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Defect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44368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วินิจฉัยรหัสตำหนิและสาเหตุ (รั่ว/เปื้อน/ฝาแตก)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84448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75887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BOM Freeze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68496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กำหนดสูตรชิ้นส่วนและปริมาณที่ต้องใช้จริง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08576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00016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Material Requisition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92624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ออกใบเบิกวัสดุส่งต่อให้คลัง (Awaiting Materials)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1325880"/>
            <a:ext cx="3621024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59" y="1554480"/>
            <a:ext cx="3218688" cy="29260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D97706"/>
                </a:solidFill>
                <a:latin typeface="Segoe UI"/>
                <a:cs typeface="Segoe UI"/>
                <a:ea typeface="Segoe UI"/>
              </a:rPr>
              <a:t>JIT 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1965960"/>
            <a:ext cx="3218688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Step 02 / WPK Single-Batch Issuance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2560320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2651760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Segoe UI"/>
                <a:cs typeface="Segoe UI"/>
                <a:ea typeface="Segoe UI"/>
              </a:rPr>
              <a:t>Single-Batch 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1" y="2944368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เบิกบรรจุภัณฑ์ครบเซ็ตรอบเดียวตาม BOM ที่อนุมัติ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584448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3675887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Segoe UI"/>
                <a:cs typeface="Segoe UI"/>
                <a:ea typeface="Segoe UI"/>
              </a:rPr>
              <a:t>Zero Hoarding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3968496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ตัดปัญหาการเบิกกล่องมากองรอล่วงหน้าโดยไร้ออเดอร์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4608576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4700016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Segoe UI"/>
                <a:cs typeface="Segoe UI"/>
                <a:ea typeface="Segoe UI"/>
              </a:rPr>
              <a:t>Staging Handover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4992624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ส่งมอบชิ้นส่วนพร้อมเอกสารไปยังจุดปฏิบัติงานซ่อม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1325880"/>
            <a:ext cx="3621024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02752" y="1554480"/>
            <a:ext cx="3218688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CONFIRMED RECEIPT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1965960"/>
            <a:ext cx="3218688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Step 03 / PDF Handshake &amp; Execution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02752" y="2560320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4" y="2651760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Two-Way Handshake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2944368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ฝ่ายผลิตตรวจนับของตรงสเปกแล้วจึงกดยืนยันรับมอบ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2752" y="3584448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21624" y="3675887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Defend Protection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1624" y="3968496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หากของขาดจะติด Blocked ทันที ความรับผิดชอบอยู่ที่คลัง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02752" y="4608576"/>
            <a:ext cx="3218688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1624" y="4700016"/>
            <a:ext cx="298094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Live Progress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4992624"/>
            <a:ext cx="298094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บันทึกยอดกล่องซ่อมเสร็จ Real-time ส่งต่อ QC Sign-off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02.2 • OPERATIONAL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Two-Way Handshake &amp; 5-Stage Bottleneck Radar (การถ่ายโอนความรับผิดชอบ)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44068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554480"/>
            <a:ext cx="4983480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HANDSHAKE PROTOCOL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4983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Two-Way Handshake Sequence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23160"/>
            <a:ext cx="4983480" cy="1051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532888"/>
            <a:ext cx="73152" cy="83210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532888"/>
            <a:ext cx="4709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Gate 1: QSMS Analysis &amp; Material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43784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วิเคราะห์ตำหนิและสร้างรายการเบิก (สถานะ: Awaiting Materials)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4983480" cy="1051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721608"/>
            <a:ext cx="73152" cy="83210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21608"/>
            <a:ext cx="4709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Gate 2: WPK Single-Batch 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32504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คลังจ่ายของครบส่งต่อ หากของไม่ครบ ระบบเข้าสู่ Blocked (Defend Mode) ทันที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0600"/>
            <a:ext cx="4983480" cy="1051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910328"/>
            <a:ext cx="73152" cy="83210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10328"/>
            <a:ext cx="47091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Gate 3: PDF Receipt &amp; Accountability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21224"/>
            <a:ext cx="47091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ช่างตรวจนับก่อนยืนยันรับงาน ความรับผิดชอบของล่าช้าจะไม่ตกอยู่ที่ฝ่ายผลิต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325880"/>
            <a:ext cx="5468112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1554480"/>
            <a:ext cx="5010912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REAL-TIME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920240"/>
            <a:ext cx="50109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5-Stage Operations Bottleneck Radar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423160"/>
            <a:ext cx="5010912" cy="62179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532888"/>
            <a:ext cx="2560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1. Pending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532888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QSMS วิเคราะห์หาสาเหตุ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532888"/>
            <a:ext cx="1143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SLA: &lt; 2 ชม.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136391"/>
            <a:ext cx="5010912" cy="62179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246120"/>
            <a:ext cx="2560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2. Awaiting Materials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246120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WPK เตรียมชิ้นส่วนและกล่อง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3246120"/>
            <a:ext cx="1143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SLA: &lt; 4 ชม.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849624"/>
            <a:ext cx="5010912" cy="62179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959352"/>
            <a:ext cx="2560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3. In-Progress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959352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PDF รับของและลงมือซ่อมแซม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959352"/>
            <a:ext cx="1143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SLA: &lt; 24 ชม.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4562856"/>
            <a:ext cx="5010912" cy="621792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4672584"/>
            <a:ext cx="2560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4. Blocked (Defend Mode)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672584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ติดปัญหาของขาด / รอน้ำมัน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672584"/>
            <a:ext cx="1143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ALERT ⚠️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5276088"/>
            <a:ext cx="5010912" cy="62179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5385816"/>
            <a:ext cx="2560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5. Completed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85816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QC ตรวจรับมาตรฐานปิดเคส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5385816"/>
            <a:ext cx="1143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FINAL SIGN-OFF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03.1 •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4-Layer Enterprise System Topology (สถาปัตยกรรมระบบ 4 เลเยอร์)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365760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554480"/>
            <a:ext cx="3255264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SYSTEM TOPOLOGY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20240"/>
            <a:ext cx="3255264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4-Tier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▸ Layer 1 / Client SPA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15184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React 19, Tailwind CSS, Motion Engine ปลอดภัยไร้ Service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27248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▸ Layer 2 / API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64991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Next.js 16 App Router ซ่อน Supabase Service Key และ AI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77056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▸ Layer 3 /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14800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Supabase PostgreSQL รองรับ Row-Level Security และ ACID 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26864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▸ Layer 4 / Vector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64608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pgvector 768 มิติ ร่วมกับ Jina Embeddings v5 สำหรับ DocAI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76672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▸ Layer 4 / Vision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14416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Gemini 3.1 Multimodal ทำ OCR และวิเคราะห์สเปก Drawing อัตโนมัติ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325880"/>
            <a:ext cx="7434072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325880"/>
            <a:ext cx="7434072" cy="310896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4840" y="141732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8576" y="141732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2312" y="141732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362456"/>
            <a:ext cx="450799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System Architecture Topology (4-Tier Decoupled Infrastructure)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1472" y="136245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PRODUCTION TOPOLOGY</a:t>
            </a:r>
          </a:p>
        </p:txBody>
      </p:sp>
      <p:pic>
        <p:nvPicPr>
          <p:cNvPr id="31" name="Picture 30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42" y="1746504"/>
            <a:ext cx="6485746" cy="41056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07408" y="5961888"/>
            <a:ext cx="7214616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Client SPA Shell ➔ Next.js API Boundary ➔ Supabase pgvector &amp; ACID Storage ➔ Gemini &amp; Jina AI Engines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03.2 • DATABASE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Supabase Relational Database Schema (ERD 8 ตารางหลัก)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365760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554480"/>
            <a:ext cx="3255264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DATABASE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20240"/>
            <a:ext cx="3255264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8 Core Relational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▸ rework_cases &amp;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15184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ความสัมพันธ์ 1:N และ 1:N ต่อยอดสู่ material_requests ตรวจสอบย้อนกลับได้ทุกชิ้น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27248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▸ item_master &amp; drawings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64991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คลังข้อมูลสินค้าและแบบแปลนวิศวกรรมพร้อมฟิลด์ Metadata แยกชัดเจน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77056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▸ document_chunks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14800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เก็บ Chunks และเวกเตอร์ 768 มิติ พร้อม HNSW Index สำหรับ hybrid_search_chunks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26864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▸ Cascade Delete &amp; FKs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64608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มีข้อกำหนด Foreign Key ครบทุกตาราง ป้องกันปัญหา Orphan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76672"/>
            <a:ext cx="32552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▸ Audit Columns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14416"/>
            <a:ext cx="3255264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8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บันทึก created_at, handover_at, qc_by ทุกสเต็ป ตรวจสอบย้อนกลับได้ 100%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325880"/>
            <a:ext cx="7434072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325880"/>
            <a:ext cx="7434072" cy="310896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4840" y="141732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8576" y="141732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2312" y="141732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362456"/>
            <a:ext cx="450799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Entity Relationship Diagram (8 Core Relational Tables)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1472" y="136245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ACID COMPLIANT</a:t>
            </a:r>
          </a:p>
        </p:txBody>
      </p:sp>
      <p:pic>
        <p:nvPicPr>
          <p:cNvPr id="31" name="Picture 30" descr="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730" y="1746504"/>
            <a:ext cx="5415971" cy="41056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07408" y="5961888"/>
            <a:ext cx="7214616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Supabase PostgreSQL Relational Schema with Strict Foreign Keys, RLS, and pgvector HNSW 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03.3 • AI ENGINEERING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Multimodal Drawing OCR &amp; DocAI RAG (วิศวกรรมปัญญาประดิษฐ์)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44068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554480"/>
            <a:ext cx="4983480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PIPELINE A • VISION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4983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Gemini Multimodal Drawing 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77440"/>
            <a:ext cx="498348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468880"/>
            <a:ext cx="73152" cy="6858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4709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Step 1: PDF Multi-page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43200"/>
            <a:ext cx="4709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แปลงหน้าเอกสาร PDF สแกนเป็น JPEG ความละเอียดสูง (300 DPI)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64992"/>
            <a:ext cx="498348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456432"/>
            <a:ext cx="73152" cy="6858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56432"/>
            <a:ext cx="4709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Step 2: 3-Tier Fault-Tolerant Cascade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30752"/>
            <a:ext cx="4709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สลับโมเดลอัตโนมัติเมื่อเจอ 503: 3.1 Flash ➔ Flash-Lite ➔ 3.8 Flash สำเร็จ 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52544"/>
            <a:ext cx="498348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443983"/>
            <a:ext cx="73152" cy="6858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43983"/>
            <a:ext cx="4709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Step 3: Structured Schema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18304"/>
            <a:ext cx="4709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สกัดฟิลด์ Drawing 7 ฟิลด์ / Master Sheet 8 ฟิลด์ เป็น JSON Structured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40096"/>
            <a:ext cx="498348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431536"/>
            <a:ext cx="73152" cy="685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431536"/>
            <a:ext cx="4709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Step 4: 55/45 Split-View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705856"/>
            <a:ext cx="4709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แผงตรวจทานคู่ขนาน Human-in-the-Loop ให้วิศวกรตรวจเทียบก่อนยืนยัน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325880"/>
            <a:ext cx="5468112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1554480"/>
            <a:ext cx="5010912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PIPELINE B • HYBRID 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920240"/>
            <a:ext cx="50109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DocAI Semantic Knowledge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2377440"/>
            <a:ext cx="5010912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2468880"/>
            <a:ext cx="73152" cy="6858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468880"/>
            <a:ext cx="473659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Step 1: Document Chunking &amp; Parsing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743200"/>
            <a:ext cx="4736592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ตัดแบ่งคู่มือมาตรฐาน SOP และ Rework Manual ออกเป็นส่วนย่อยแบบ Semantic Chunks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364992"/>
            <a:ext cx="5010912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92240" y="3456432"/>
            <a:ext cx="73152" cy="685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456432"/>
            <a:ext cx="473659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Step 2: Jina Embeddings v5 Vectorization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730752"/>
            <a:ext cx="4736592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แปลงข้อความเป็น Dense Vectors ขนาด 768 มิติ แม่นยำสูงต่อศัพท์เทคนิค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4352544"/>
            <a:ext cx="5010912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92240" y="4443983"/>
            <a:ext cx="73152" cy="6858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443983"/>
            <a:ext cx="473659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Step 3: Supabase pgvector HNSW Index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718304"/>
            <a:ext cx="4736592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สืบค้นความหมายผ่าน hybrid_search_chunks ร่วมกับ Full-Text Keyword Search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5340096"/>
            <a:ext cx="5010912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92240" y="5431536"/>
            <a:ext cx="73152" cy="6858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5431536"/>
            <a:ext cx="473659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Step 4: Streaming SSE Chat &amp; Function Call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705856"/>
            <a:ext cx="4736592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ตอบคำถามแบบสตรีมมิ่งสด พร้อมเรียก Tool get_rework_statistics แสดงสถิติจริง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04.1 • LIVE SYSTEM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Production Live Demonstration Roadmap (เส้นทางสาธิตระบบจริงบน Production)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26700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536192"/>
            <a:ext cx="2304288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LIVE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23042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Step 01 / Case Initiation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31720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68296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RT/RW Gating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3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เคส RT บังคับแนบไฟล์อ้างอิง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62072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9864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Smart Autofill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99815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ค้นหารหัสสินค้าด้วยปุ่มแว่นขยาย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92424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29000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Atomic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30168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บีบอัดและบังคับรูปถ่ายหลักฐาน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1325880"/>
            <a:ext cx="26700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93008" y="1536192"/>
            <a:ext cx="2304288" cy="256032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MES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1874519"/>
            <a:ext cx="23042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Step 02 / Handover &amp; Bottleneck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2331720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2368296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RBAC Handover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2569463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เปลี่ยนสถานะ QSMS ➔ WPK ➔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3008" y="2862072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289864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Defend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3099815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ทดสอบวัสดุขาดและโหมด Defend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93008" y="3392424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3429000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Live Radar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3630168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Bottleneck Radar แสดงผลคอขวด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3056" y="1325880"/>
            <a:ext cx="26700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45936" y="1536192"/>
            <a:ext cx="2304288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AI OCR INSPECT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1874519"/>
            <a:ext cx="23042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Step 03 / AI Drawing Split-View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5936" y="2331720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2368296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Multimodal OCR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2569463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อัปโหลด PDF สกัด 7-8 ฟิลด์อัตโนมัติ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45936" y="2862072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289864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55/45 Split-View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3099815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เปิดแผงตรวจทานสเปกข้าง PDF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45936" y="3392424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3429000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Auto-Rotate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3630168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หมุนองศาและจำค่าใน localStorage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15984" y="1325880"/>
            <a:ext cx="26700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98863" y="1536192"/>
            <a:ext cx="2304288" cy="256032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DOCAI RAG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863" y="1874519"/>
            <a:ext cx="23042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Step 04 / DocAI Assistant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98863" y="2331720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0304" y="2368296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Streaming SSE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0304" y="2569463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แชทถามตอบคู่มือเทคนิคแบบสด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98863" y="2862072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0304" y="2898648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SOP Grounding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90304" y="3099815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อ้างอิงหน้าคู่มือและมาตรฐานจริง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98863" y="3392424"/>
            <a:ext cx="2304288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90304" y="3429000"/>
            <a:ext cx="21214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Function Calling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0304" y="3630168"/>
            <a:ext cx="212140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ดึงสถิติคลังและเคส Rework ย้อนหลัง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532120"/>
            <a:ext cx="11274552" cy="64008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650992"/>
            <a:ext cx="10908792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➔  กดสลับหน้าจอ (Alt + Tab) เข้าสู่ Web Browser เพื่อเริ่มการสาธิตระบบจริงบน Production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05.1 • TESTING &amp; AI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Empirical AI Benchmarks &amp; System Verification (ผลทดสอบความแม่นยำ AI &amp; ระบบ)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438912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438912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600200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EMPIRICAL 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38404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8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96.36%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Overall AI OCR 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384048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ประเมินเทียบกับเอกสารสแกนจริง 55 ชุด (100 รายการทดสอบ):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/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✔ Engineering Drawings: 99.20% Precision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✔ Internal Master Sheets: 99.60% Precision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✔ Wilson 95% Confidence Interval: [0.93 - 0.98]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✔ การันตีความเสถียร ไม่เกิด Hallucination ในฟิลด์ตัวเลข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325880"/>
            <a:ext cx="6611112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1463039"/>
            <a:ext cx="73152" cy="12618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645919"/>
            <a:ext cx="1371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131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527048"/>
            <a:ext cx="4800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Vitest Automated Test Suite (100% Pass)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911095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ครอบคลุม Unit Tests สำหรับ Data Contracts, Master Verification, และ Business Calculations ผ่านทั้งหมด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5087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8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AUTOMATED QA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999232"/>
            <a:ext cx="6611112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0640" y="3136392"/>
            <a:ext cx="73152" cy="1261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319272"/>
            <a:ext cx="1371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Zero-Drop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00400"/>
            <a:ext cx="4800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Atomic Transaction &amp; Evidence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584448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อัปโหลดภาพหลักฐานไม่ผ่านจะ Rollback ธุรกรรมทันที ขจัดปัญหาขยะข้อมูลค้างในระบบเป็น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318211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80" b="1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DATA INTEGRITY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4672584"/>
            <a:ext cx="6611112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20640" y="4809744"/>
            <a:ext cx="73152" cy="12618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992624"/>
            <a:ext cx="1371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100% 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873752"/>
            <a:ext cx="4800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3-Tier Fault-Tolerant Cascade Resilience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257800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ผ่านการทดสอบจำลอง Error 503 สลับโมเดลอัตโนมัติ (Flash ➔ Flash-Lite ➔ 3.8 Flash) ไร้ Downtime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485546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8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HIGH AVAILABILITY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05.2 • OPERATIONAL IMPACT &amp;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Measured Operational KPIs: Before vs After (เปรียบเทียบผลลัพธ์เชิงปฏิบัติการ)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11274552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554480"/>
            <a:ext cx="10908792" cy="402336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09344"/>
            <a:ext cx="34747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OPERATIONAL METRIC (มิติการวัดผล)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09344"/>
            <a:ext cx="25603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LEGACY PROCESS (ระบบเดิม)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609344"/>
            <a:ext cx="25603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QSMS DIGITAL MES (ระบบใหม่)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09344"/>
            <a:ext cx="231343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ENGINEERING IMPACT (ผลลัพธ์)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057400"/>
            <a:ext cx="10908792" cy="658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221992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Case Initiation Cycle Time (เวลาเปิดเคส)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221992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12.5 นาที / เคส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221992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4.2 นาที / เคส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19456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🟢 ลดลง 66.4% (-8.3 นาที)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807208"/>
            <a:ext cx="10908792" cy="658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971800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Human Error in Master Code (ข้อผิดพลาดรหัส)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971800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8.3% (พิมพ์รหัสผิดประจำ)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971800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0.0% (Verified 100%)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9443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🟢 ขจัดข้อผิดพลาดหมด 100%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57015"/>
            <a:ext cx="10908792" cy="658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21607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Double Handling (การเบิกของมารอซ้ำซ้อน)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721607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2x รอบ (เบิกก่อนสเปกจริง)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21607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0 ครั้ง (Single-Batch Kit)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694176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50" b="1">
                <a:solidFill>
                  <a:srgbClr val="D97706"/>
                </a:solidFill>
                <a:latin typeface="Segoe UI"/>
                <a:cs typeface="Segoe UI"/>
                <a:ea typeface="Segoe UI"/>
              </a:rPr>
              <a:t>🟢 ปัญหาของคั่งค้างเป็น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06824"/>
            <a:ext cx="10908792" cy="658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471416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Drawing &amp; SOP Discovery (เวลาค้นหาเอกสาร)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471416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18 นาที (เดินหาแฟ้มกระดาษ)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471416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45 วินาที (DocAI Search)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4443984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5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🟢 เร็วขึ้น 95.8%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56632"/>
            <a:ext cx="10908792" cy="658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221224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Monthly Cloud Infrastructure Cost (ต้นทุนคลาวด์)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221224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E11D48"/>
                </a:solidFill>
                <a:latin typeface="Segoe UI"/>
                <a:cs typeface="Segoe UI"/>
                <a:ea typeface="Segoe UI"/>
              </a:rPr>
              <a:t>N/A (Google Sheets ล็อก)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221224"/>
            <a:ext cx="2560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0 บาท (Free Tier Capacity)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519379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🟢 ใช้งานฟรีได้นานกว่า 5 ปี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01 • PROBLEM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02 • WORKFLOW &amp;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03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04 •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0116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05 • EVALUATION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011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90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91440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05.3 • CONCLUSION &amp; DEFENSE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86384"/>
            <a:ext cx="112471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Segoe UI"/>
                <a:cs typeface="Segoe UI"/>
                <a:ea typeface="Segoe UI"/>
              </a:rPr>
              <a:t>Engineering Defense Q&amp;A &amp; Key Takeaways (สรุปคุณค่าและการเตรียมความพร้อมตอบคำถาม)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91440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  <a:cs typeface="Segoe UI"/>
                <a:ea typeface="Segoe UI"/>
              </a:rPr>
              <a:t>QSMS Platform Ecosystem  •  วิศวกรรมหุ่นยนต์อัตโนมัติ (PIM)  •  นายสพลฎณัย ชัยพงษ์ (6752500398)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5486400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9903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Q1 • SECURITY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39903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DEFENSE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856231"/>
            <a:ext cx="5029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การจัดการสิทธิ์และความปลอดภัย (RBAC)?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377439"/>
            <a:ext cx="5029200" cy="1051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468880"/>
            <a:ext cx="47548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DEFENSE: แยกสิทธิ์ QSMS/Admin และ Operator ผ่าน Server-Side JWT Verification และ HTTP-only Cookies ป้องกัน Client Spoofing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3258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5486400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9903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Q2 • AI SAFETY &amp; GUARDRAILS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139903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DEFENSE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856231"/>
            <a:ext cx="5029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ถ้า AI OCR อ่านเอกสารผิดพลาดมีมาตรการอย่างไร?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377439"/>
            <a:ext cx="5029200" cy="1051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468880"/>
            <a:ext cx="47548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DEFENSE: Human-in-the-Loop บังคับแผง 55/45 Split-view ให้เจ้าหน้าที่ตรวจเทียบ PDF ต้นฉบับและกดยืนยันก่อนบันทึกเข้าสู่ Master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94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94760"/>
            <a:ext cx="5486400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86791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Q3 • SYSTEM FAULT RESILIENCE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86791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DEFENSE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25112"/>
            <a:ext cx="5029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4F46E5"/>
                </a:solidFill>
                <a:latin typeface="Segoe UI"/>
                <a:cs typeface="Segoe UI"/>
                <a:ea typeface="Segoe UI"/>
              </a:rPr>
              <a:t>แก้ปัญหา Concurrency และ Rate Limit อย่างไร?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46320"/>
            <a:ext cx="5029200" cy="1051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37760"/>
            <a:ext cx="47548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DEFENSE: ใช้ PostgreSQL Transaction Locks ป้องกัน Race Condition และมี Cascade Fallback 3 ระดับรองรับ 503 High Demand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794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3794760"/>
            <a:ext cx="5486400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86791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Q4 • FUTURE SCALABILITY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5560" y="386791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36576" rIns="36576"/>
          <a:lstStyle/>
          <a:p>
            <a:pPr algn="ctr"/>
            <a:r>
              <a:rPr sz="750" b="1">
                <a:solidFill>
                  <a:srgbClr val="059669"/>
                </a:solidFill>
                <a:latin typeface="Segoe UI"/>
                <a:cs typeface="Segoe UI"/>
                <a:ea typeface="Segoe UI"/>
              </a:rPr>
              <a:t>DEFENSE 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325112"/>
            <a:ext cx="5029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0D9488"/>
                </a:solidFill>
                <a:latin typeface="Segoe UI"/>
                <a:cs typeface="Segoe UI"/>
                <a:ea typeface="Segoe UI"/>
              </a:rPr>
              <a:t>ข้อจำกัดของระบบและทิศทางการพัฒนาในอนาคต?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846320"/>
            <a:ext cx="5029200" cy="1051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937760"/>
            <a:ext cx="47548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Segoe UI"/>
                <a:cs typeface="Segoe UI"/>
                <a:ea typeface="Segoe UI"/>
              </a:rPr>
              <a:t>DEFENSE: ระบบยังพึ่งพาการเชื่อมต่ออินเทอร์เน็ตในการโหลด PDF โดยมีแผนเชื่อมต่อ Webhook เข้ากับระบบ ERP กลางของโรงงานในเฟสถัดไป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